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3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95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649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246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7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136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846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35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57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421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70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5DD30-3C88-421B-A279-415929FA38D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7C9C7-E7FA-4DCC-B47E-F0B88D3F3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07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ank-secure-login.xyz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28506"/>
            <a:ext cx="9144000" cy="926154"/>
          </a:xfrm>
        </p:spPr>
        <p:txBody>
          <a:bodyPr/>
          <a:lstStyle/>
          <a:p>
            <a:r>
              <a:rPr lang="en-IN" b="1" u="sng" dirty="0" smtClean="0"/>
              <a:t>Phishing</a:t>
            </a:r>
            <a:r>
              <a:rPr lang="en-IN" dirty="0" smtClean="0"/>
              <a:t> </a:t>
            </a:r>
            <a:r>
              <a:rPr lang="en-IN" b="1" u="sng" dirty="0" smtClean="0"/>
              <a:t>Awareness</a:t>
            </a:r>
            <a:r>
              <a:rPr lang="en-IN" dirty="0" smtClean="0"/>
              <a:t> </a:t>
            </a:r>
            <a:r>
              <a:rPr lang="en-IN" b="1" u="sng" dirty="0" smtClean="0"/>
              <a:t>Training</a:t>
            </a:r>
            <a:endParaRPr lang="en-IN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65516"/>
            <a:ext cx="9144000" cy="2060531"/>
          </a:xfrm>
        </p:spPr>
        <p:txBody>
          <a:bodyPr/>
          <a:lstStyle/>
          <a:p>
            <a:r>
              <a:rPr lang="en-US" u="sng" dirty="0" smtClean="0"/>
              <a:t>Cyber</a:t>
            </a:r>
            <a:r>
              <a:rPr lang="en-US" dirty="0" smtClean="0"/>
              <a:t> </a:t>
            </a:r>
            <a:r>
              <a:rPr lang="en-US" u="sng" dirty="0" smtClean="0"/>
              <a:t>Security</a:t>
            </a:r>
            <a:r>
              <a:rPr lang="en-US" dirty="0" smtClean="0"/>
              <a:t> </a:t>
            </a:r>
            <a:r>
              <a:rPr lang="en-US" u="sng" dirty="0" smtClean="0"/>
              <a:t>Internship</a:t>
            </a:r>
            <a:r>
              <a:rPr lang="en-US" dirty="0" smtClean="0"/>
              <a:t> </a:t>
            </a:r>
            <a:r>
              <a:rPr lang="en-US" u="sng" dirty="0" smtClean="0"/>
              <a:t>Project</a:t>
            </a:r>
            <a:r>
              <a:rPr lang="en-US" dirty="0" smtClean="0"/>
              <a:t>.</a:t>
            </a:r>
          </a:p>
          <a:p>
            <a:r>
              <a:rPr lang="en-US" u="sng" dirty="0" err="1" smtClean="0"/>
              <a:t>CodeAlpha</a:t>
            </a:r>
            <a:r>
              <a:rPr lang="en-US" dirty="0" smtClean="0"/>
              <a:t>.</a:t>
            </a:r>
          </a:p>
          <a:p>
            <a:r>
              <a:rPr lang="en-US" dirty="0" smtClean="0"/>
              <a:t>Prepared by: </a:t>
            </a:r>
            <a:r>
              <a:rPr lang="en-US" b="1" u="sng" dirty="0" err="1" smtClean="0"/>
              <a:t>Soham</a:t>
            </a:r>
            <a:r>
              <a:rPr lang="en-US" dirty="0" smtClean="0"/>
              <a:t> </a:t>
            </a:r>
            <a:r>
              <a:rPr lang="en-US" b="1" u="sng" dirty="0" err="1" smtClean="0"/>
              <a:t>Shivram</a:t>
            </a:r>
            <a:r>
              <a:rPr lang="en-US" dirty="0" smtClean="0"/>
              <a:t> </a:t>
            </a:r>
            <a:r>
              <a:rPr lang="en-US" b="1" u="sng" dirty="0" err="1" smtClean="0"/>
              <a:t>Haldankar</a:t>
            </a:r>
            <a:r>
              <a:rPr lang="en-US" dirty="0" smtClean="0"/>
              <a:t>.</a:t>
            </a:r>
            <a:endParaRPr lang="en-IN" dirty="0"/>
          </a:p>
        </p:txBody>
      </p:sp>
      <p:pic>
        <p:nvPicPr>
          <p:cNvPr id="1026" name="Picture 2" descr="https://wallpapers.com/images/hd/cyber-security-background-meuqfzxcg4gdd26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396" y="3926047"/>
            <a:ext cx="4378354" cy="246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dn-icons-png.freepik.com/512/8743/874396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359" y="1589385"/>
            <a:ext cx="2075897" cy="2075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static.vecteezy.com/system/resources/previews/059/490/832/non_2x/protective-shield-icon-shield-check-mark-sign-safety-verification-icon-safety-and-security-protective-shield-free-vector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050" y="1589385"/>
            <a:ext cx="3276600" cy="233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96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What</a:t>
            </a:r>
            <a:r>
              <a:rPr lang="en-IN" dirty="0" smtClean="0"/>
              <a:t> </a:t>
            </a:r>
            <a:r>
              <a:rPr lang="en-IN" b="1" u="sng" dirty="0" smtClean="0"/>
              <a:t>is</a:t>
            </a:r>
            <a:r>
              <a:rPr lang="en-IN" dirty="0" smtClean="0"/>
              <a:t> </a:t>
            </a:r>
            <a:r>
              <a:rPr lang="en-IN" b="1" u="sng" dirty="0" smtClean="0"/>
              <a:t>Phishing</a:t>
            </a:r>
            <a:r>
              <a:rPr lang="en-IN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Phishing is a cyber attack where attackers trick users into revealing sensitive information such as passwords, banking details, OTPs, or personal information by pretending to be a trusted source.</a:t>
            </a:r>
          </a:p>
          <a:p>
            <a:r>
              <a:rPr lang="en-IN" dirty="0" smtClean="0"/>
              <a:t>Examples:-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Fake bank emails.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Fake login pages.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Fraudulent messages.</a:t>
            </a:r>
          </a:p>
          <a:p>
            <a:endParaRPr lang="en-IN" dirty="0"/>
          </a:p>
        </p:txBody>
      </p:sp>
      <p:pic>
        <p:nvPicPr>
          <p:cNvPr id="2050" name="Picture 2" descr="https://www.eiresystems.com/wp-content/uploads/Phishing-email-concept-image-shows-burglar-using-a-fishing-rod.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348" y="3166760"/>
            <a:ext cx="4944611" cy="301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453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How</a:t>
            </a:r>
            <a:r>
              <a:rPr lang="en-IN" dirty="0" smtClean="0"/>
              <a:t> </a:t>
            </a:r>
            <a:r>
              <a:rPr lang="en-IN" b="1" u="sng" dirty="0" smtClean="0"/>
              <a:t>Phishing</a:t>
            </a:r>
            <a:r>
              <a:rPr lang="en-IN" dirty="0" smtClean="0"/>
              <a:t> </a:t>
            </a:r>
            <a:r>
              <a:rPr lang="en-IN" b="1" u="sng" dirty="0" smtClean="0"/>
              <a:t>Works</a:t>
            </a:r>
            <a:r>
              <a:rPr lang="en-IN" dirty="0" smtClean="0"/>
              <a:t>:-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8456"/>
          </a:xfrm>
        </p:spPr>
        <p:txBody>
          <a:bodyPr>
            <a:normAutofit fontScale="77500" lnSpcReduction="20000"/>
          </a:bodyPr>
          <a:lstStyle/>
          <a:p>
            <a:r>
              <a:rPr lang="en-IN" b="1" u="sng" dirty="0" smtClean="0"/>
              <a:t>Attacker</a:t>
            </a:r>
            <a:r>
              <a:rPr lang="en-IN" dirty="0" smtClean="0"/>
              <a:t>:-</a:t>
            </a:r>
            <a:r>
              <a:rPr lang="en-US" sz="2200" dirty="0" smtClean="0"/>
              <a:t>The cybercriminal creates a plan to trick people into revealing sensitive information.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↓</a:t>
            </a:r>
          </a:p>
          <a:p>
            <a:r>
              <a:rPr lang="en-IN" b="1" u="sng" dirty="0" smtClean="0"/>
              <a:t>Fake</a:t>
            </a:r>
            <a:r>
              <a:rPr lang="en-IN" dirty="0" smtClean="0"/>
              <a:t> </a:t>
            </a:r>
            <a:r>
              <a:rPr lang="en-IN" b="1" u="sng" dirty="0" smtClean="0"/>
              <a:t>Email/SMS</a:t>
            </a:r>
            <a:r>
              <a:rPr lang="en-IN" dirty="0" smtClean="0"/>
              <a:t>:-</a:t>
            </a:r>
            <a:r>
              <a:rPr lang="en-US" sz="2200" dirty="0" smtClean="0"/>
              <a:t>The attacker sends a message that looks genuine (bank, company, or service) to gain the victim's trust.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↓</a:t>
            </a:r>
          </a:p>
          <a:p>
            <a:r>
              <a:rPr lang="en-IN" b="1" u="sng" dirty="0" smtClean="0"/>
              <a:t>Victim</a:t>
            </a:r>
            <a:r>
              <a:rPr lang="en-IN" dirty="0" smtClean="0"/>
              <a:t> </a:t>
            </a:r>
            <a:r>
              <a:rPr lang="en-IN" b="1" u="sng" dirty="0" smtClean="0"/>
              <a:t>Clicks</a:t>
            </a:r>
            <a:r>
              <a:rPr lang="en-IN" dirty="0" smtClean="0"/>
              <a:t> </a:t>
            </a:r>
            <a:r>
              <a:rPr lang="en-IN" b="1" u="sng" dirty="0" smtClean="0"/>
              <a:t>Link</a:t>
            </a:r>
            <a:r>
              <a:rPr lang="en-IN" dirty="0" smtClean="0"/>
              <a:t>:-</a:t>
            </a:r>
            <a:r>
              <a:rPr lang="en-US" sz="2200" dirty="0" smtClean="0"/>
              <a:t>The victim believes the message is real and clicks the provided malicious link.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↓</a:t>
            </a:r>
          </a:p>
          <a:p>
            <a:r>
              <a:rPr lang="en-IN" b="1" u="sng" dirty="0" smtClean="0"/>
              <a:t>Fake</a:t>
            </a:r>
            <a:r>
              <a:rPr lang="en-IN" dirty="0" smtClean="0"/>
              <a:t> </a:t>
            </a:r>
            <a:r>
              <a:rPr lang="en-IN" b="1" u="sng" dirty="0" smtClean="0"/>
              <a:t>Website</a:t>
            </a:r>
            <a:r>
              <a:rPr lang="en-IN" dirty="0" smtClean="0"/>
              <a:t>:-</a:t>
            </a:r>
            <a:r>
              <a:rPr lang="en-US" dirty="0" smtClean="0"/>
              <a:t> </a:t>
            </a:r>
            <a:r>
              <a:rPr lang="en-US" sz="2400" dirty="0" smtClean="0"/>
              <a:t>The link opens a website that closely resembles the legitimate website to fool the victim.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↓</a:t>
            </a:r>
          </a:p>
          <a:p>
            <a:r>
              <a:rPr lang="en-IN" b="1" u="sng" dirty="0" smtClean="0"/>
              <a:t>Credentials</a:t>
            </a:r>
            <a:r>
              <a:rPr lang="en-IN" dirty="0" smtClean="0"/>
              <a:t> </a:t>
            </a:r>
            <a:r>
              <a:rPr lang="en-IN" b="1" u="sng" dirty="0" smtClean="0"/>
              <a:t>Stolen</a:t>
            </a:r>
            <a:r>
              <a:rPr lang="en-IN" dirty="0" smtClean="0"/>
              <a:t>:-</a:t>
            </a:r>
            <a:r>
              <a:rPr lang="en-US" dirty="0" smtClean="0"/>
              <a:t> </a:t>
            </a:r>
            <a:r>
              <a:rPr lang="en-US" sz="2400" dirty="0" smtClean="0"/>
              <a:t>When the victim enters their username, password, or other details, the information is sent directly to the attacker.</a:t>
            </a:r>
          </a:p>
          <a:p>
            <a:r>
              <a:rPr lang="en-IN" b="1" dirty="0" smtClean="0"/>
              <a:t>Flow: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b="1" dirty="0" smtClean="0"/>
              <a:t>Attacker</a:t>
            </a:r>
            <a:r>
              <a:rPr lang="en-IN" dirty="0" smtClean="0"/>
              <a:t> → </a:t>
            </a:r>
            <a:r>
              <a:rPr lang="en-IN" b="1" dirty="0" smtClean="0"/>
              <a:t>Fake</a:t>
            </a:r>
            <a:r>
              <a:rPr lang="en-IN" dirty="0" smtClean="0"/>
              <a:t> </a:t>
            </a:r>
            <a:r>
              <a:rPr lang="en-IN" b="1" dirty="0" smtClean="0"/>
              <a:t>Email/SMS</a:t>
            </a:r>
            <a:r>
              <a:rPr lang="en-IN" dirty="0" smtClean="0"/>
              <a:t> → </a:t>
            </a:r>
            <a:r>
              <a:rPr lang="en-IN" b="1" dirty="0" smtClean="0"/>
              <a:t>Victim</a:t>
            </a:r>
            <a:r>
              <a:rPr lang="en-IN" dirty="0" smtClean="0"/>
              <a:t> </a:t>
            </a:r>
            <a:r>
              <a:rPr lang="en-IN" b="1" dirty="0" smtClean="0"/>
              <a:t>Clicks</a:t>
            </a:r>
            <a:r>
              <a:rPr lang="en-IN" dirty="0" smtClean="0"/>
              <a:t> </a:t>
            </a:r>
            <a:r>
              <a:rPr lang="en-IN" b="1" dirty="0" smtClean="0"/>
              <a:t>Link</a:t>
            </a:r>
            <a:r>
              <a:rPr lang="en-IN" dirty="0" smtClean="0"/>
              <a:t> → </a:t>
            </a:r>
            <a:r>
              <a:rPr lang="en-IN" b="1" dirty="0" smtClean="0"/>
              <a:t>Fake</a:t>
            </a:r>
            <a:r>
              <a:rPr lang="en-IN" dirty="0" smtClean="0"/>
              <a:t> </a:t>
            </a:r>
            <a:r>
              <a:rPr lang="en-IN" b="1" dirty="0" smtClean="0"/>
              <a:t>Website</a:t>
            </a:r>
            <a:r>
              <a:rPr lang="en-IN" dirty="0" smtClean="0"/>
              <a:t> → </a:t>
            </a:r>
            <a:r>
              <a:rPr lang="en-IN" b="1" dirty="0" smtClean="0"/>
              <a:t>Credentials</a:t>
            </a:r>
            <a:r>
              <a:rPr lang="en-IN" dirty="0" smtClean="0"/>
              <a:t> </a:t>
            </a:r>
            <a:r>
              <a:rPr lang="en-IN" b="1" dirty="0" smtClean="0"/>
              <a:t>Stolen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64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Types</a:t>
            </a:r>
            <a:r>
              <a:rPr lang="en-IN" dirty="0" smtClean="0"/>
              <a:t> </a:t>
            </a:r>
            <a:r>
              <a:rPr lang="en-IN" b="1" u="sng" dirty="0" smtClean="0"/>
              <a:t>of</a:t>
            </a:r>
            <a:r>
              <a:rPr lang="en-IN" dirty="0" smtClean="0"/>
              <a:t> </a:t>
            </a:r>
            <a:r>
              <a:rPr lang="en-IN" b="1" u="sng" dirty="0" smtClean="0"/>
              <a:t>Phishing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Include:</a:t>
            </a:r>
          </a:p>
          <a:p>
            <a:r>
              <a:rPr lang="en-US" b="1" dirty="0" smtClean="0"/>
              <a:t>Email Phishing:-</a:t>
            </a:r>
          </a:p>
          <a:p>
            <a:pPr marL="0" indent="0">
              <a:buNone/>
            </a:pPr>
            <a:r>
              <a:rPr lang="en-US" dirty="0" smtClean="0"/>
              <a:t>	Fake emails.</a:t>
            </a:r>
          </a:p>
          <a:p>
            <a:r>
              <a:rPr lang="en-US" b="1" dirty="0" smtClean="0"/>
              <a:t>SMS Phishing (</a:t>
            </a:r>
            <a:r>
              <a:rPr lang="en-US" b="1" dirty="0" err="1" smtClean="0"/>
              <a:t>Smishing</a:t>
            </a:r>
            <a:r>
              <a:rPr lang="en-US" b="1" dirty="0" smtClean="0"/>
              <a:t>):-</a:t>
            </a:r>
          </a:p>
          <a:p>
            <a:pPr marL="0" indent="0">
              <a:buNone/>
            </a:pPr>
            <a:r>
              <a:rPr lang="en-US" dirty="0" smtClean="0"/>
              <a:t>	Fake text messages.</a:t>
            </a:r>
          </a:p>
          <a:p>
            <a:r>
              <a:rPr lang="en-US" b="1" dirty="0" smtClean="0"/>
              <a:t>Voice Phishing (Vishing):-</a:t>
            </a:r>
          </a:p>
          <a:p>
            <a:pPr marL="0" indent="0">
              <a:buNone/>
            </a:pPr>
            <a:r>
              <a:rPr lang="en-US" dirty="0" smtClean="0"/>
              <a:t>	Phone call scams.</a:t>
            </a:r>
          </a:p>
          <a:p>
            <a:r>
              <a:rPr lang="en-US" b="1" dirty="0" smtClean="0"/>
              <a:t>Spear Phishing:-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Targeted attacks against specific individuals.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561" y="865862"/>
            <a:ext cx="5942239" cy="39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6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</a:t>
            </a:r>
            <a:r>
              <a:rPr lang="en-US" dirty="0" smtClean="0"/>
              <a:t> </a:t>
            </a:r>
            <a:r>
              <a:rPr lang="en-US" b="1" u="sng" dirty="0" smtClean="0"/>
              <a:t>of</a:t>
            </a:r>
            <a:r>
              <a:rPr lang="en-US" dirty="0" smtClean="0"/>
              <a:t> </a:t>
            </a:r>
            <a:r>
              <a:rPr lang="en-US" b="1" u="sng" dirty="0"/>
              <a:t>A</a:t>
            </a:r>
            <a:r>
              <a:rPr lang="en-US" dirty="0" smtClean="0"/>
              <a:t> </a:t>
            </a:r>
            <a:r>
              <a:rPr lang="en-US" b="1" u="sng" dirty="0" smtClean="0"/>
              <a:t>Phishing</a:t>
            </a:r>
            <a:r>
              <a:rPr lang="en-US" dirty="0" smtClean="0"/>
              <a:t> </a:t>
            </a:r>
            <a:r>
              <a:rPr lang="en-US" b="1" u="sng" dirty="0" smtClean="0"/>
              <a:t>Email</a:t>
            </a:r>
            <a:r>
              <a:rPr lang="en-US" dirty="0" smtClean="0"/>
              <a:t>:-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5185"/>
            <a:ext cx="10515600" cy="4641778"/>
          </a:xfrm>
        </p:spPr>
        <p:txBody>
          <a:bodyPr>
            <a:normAutofit fontScale="85000" lnSpcReduction="20000"/>
          </a:bodyPr>
          <a:lstStyle/>
          <a:p>
            <a:r>
              <a:rPr lang="en-IN" dirty="0" smtClean="0"/>
              <a:t>For Example You Will Get A Fake Message Like: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Subject: Your Bank Account Will Be Suspended</a:t>
            </a: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Dear Customer, </a:t>
            </a:r>
            <a:r>
              <a:rPr lang="en-IN" dirty="0"/>
              <a:t> </a:t>
            </a:r>
            <a:r>
              <a:rPr lang="en-IN" dirty="0" smtClean="0"/>
              <a:t>     </a:t>
            </a:r>
            <a:r>
              <a:rPr lang="en-IN" b="1" dirty="0" smtClean="0"/>
              <a:t>Generic greeting</a:t>
            </a: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Your account has been flagged.</a:t>
            </a:r>
          </a:p>
          <a:p>
            <a:pPr marL="0" indent="0">
              <a:buNone/>
            </a:pPr>
            <a:r>
              <a:rPr lang="en-US" dirty="0" smtClean="0"/>
              <a:t>  Click here immediately to verify:        </a:t>
            </a:r>
            <a:r>
              <a:rPr lang="en-IN" b="1" dirty="0" smtClean="0"/>
              <a:t>Urgency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  www.bank-secure-login.xyz</a:t>
            </a:r>
            <a:r>
              <a:rPr lang="en-US" dirty="0" smtClean="0"/>
              <a:t>       </a:t>
            </a:r>
            <a:r>
              <a:rPr lang="en-IN" b="1" dirty="0" smtClean="0"/>
              <a:t>Suspicious URL</a:t>
            </a: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Failure to verify within 24 hours will result in account suspension.</a:t>
            </a:r>
            <a:endParaRPr lang="en-IN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4496499" y="5117284"/>
            <a:ext cx="427838" cy="8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2987879" y="3205993"/>
            <a:ext cx="427838" cy="8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5092117" y="4343503"/>
            <a:ext cx="427838" cy="8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57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Fake</a:t>
            </a:r>
            <a:r>
              <a:rPr lang="en-IN" dirty="0" smtClean="0"/>
              <a:t> </a:t>
            </a:r>
            <a:r>
              <a:rPr lang="en-IN" b="1" u="sng" dirty="0" smtClean="0"/>
              <a:t>Websites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1676"/>
            <a:ext cx="10515600" cy="4351338"/>
          </a:xfrm>
        </p:spPr>
        <p:txBody>
          <a:bodyPr/>
          <a:lstStyle/>
          <a:p>
            <a:r>
              <a:rPr lang="en-IN" dirty="0" smtClean="0"/>
              <a:t>Example:-</a:t>
            </a:r>
          </a:p>
          <a:p>
            <a:r>
              <a:rPr lang="en-IN" dirty="0" smtClean="0"/>
              <a:t>Real:</a:t>
            </a:r>
          </a:p>
          <a:p>
            <a:pPr marL="0" indent="0">
              <a:buNone/>
            </a:pPr>
            <a:r>
              <a:rPr lang="en-IN" dirty="0" smtClean="0"/>
              <a:t>   amazon.in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/>
              <a:t>Fake:</a:t>
            </a:r>
          </a:p>
          <a:p>
            <a:pPr marL="0" indent="0">
              <a:buNone/>
            </a:pPr>
            <a:r>
              <a:rPr lang="en-IN" dirty="0" smtClean="0"/>
              <a:t>   amaz0n-security.com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838200" y="4746548"/>
            <a:ext cx="1041143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You Can See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</a:rPr>
              <a:t>T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here are Following Mistakes In Above Example :-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Misspellings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Extra words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Fake domains </a:t>
            </a:r>
          </a:p>
        </p:txBody>
      </p:sp>
    </p:spTree>
    <p:extLst>
      <p:ext uri="{BB962C8B-B14F-4D97-AF65-F5344CB8AC3E}">
        <p14:creationId xmlns:p14="http://schemas.microsoft.com/office/powerpoint/2010/main" val="82394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Social</a:t>
            </a:r>
            <a:r>
              <a:rPr lang="en-IN" dirty="0" smtClean="0"/>
              <a:t> </a:t>
            </a:r>
            <a:r>
              <a:rPr lang="en-IN" b="1" u="sng" dirty="0" smtClean="0"/>
              <a:t>Engineering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Social engineering is the psychological manipulation of people to perform actions or reveal confidential information.</a:t>
            </a:r>
          </a:p>
          <a:p>
            <a:endParaRPr lang="en-US" dirty="0"/>
          </a:p>
          <a:p>
            <a:r>
              <a:rPr lang="en-US" dirty="0" smtClean="0"/>
              <a:t>Examples:</a:t>
            </a:r>
          </a:p>
          <a:p>
            <a:r>
              <a:rPr lang="en-US" dirty="0" smtClean="0"/>
              <a:t>Fake IT support </a:t>
            </a:r>
          </a:p>
          <a:p>
            <a:r>
              <a:rPr lang="en-US" dirty="0" smtClean="0"/>
              <a:t>Fake HR calls </a:t>
            </a:r>
          </a:p>
          <a:p>
            <a:r>
              <a:rPr lang="en-US" dirty="0" smtClean="0"/>
              <a:t>Lottery scams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6631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Warning</a:t>
            </a:r>
            <a:r>
              <a:rPr lang="en-IN" dirty="0" smtClean="0"/>
              <a:t> </a:t>
            </a:r>
            <a:r>
              <a:rPr lang="en-IN" b="1" u="sng" dirty="0" smtClean="0"/>
              <a:t>Signs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sng" dirty="0" smtClean="0"/>
              <a:t>Checklist</a:t>
            </a:r>
            <a:r>
              <a:rPr lang="en-IN" dirty="0" smtClean="0"/>
              <a:t>:</a:t>
            </a:r>
          </a:p>
          <a:p>
            <a:pPr marL="0" indent="0">
              <a:buNone/>
            </a:pPr>
            <a:r>
              <a:rPr lang="en-IN" dirty="0" smtClean="0"/>
              <a:t>	✔ </a:t>
            </a:r>
            <a:r>
              <a:rPr lang="en-IN" b="1" dirty="0" smtClean="0"/>
              <a:t>Unexpected email.</a:t>
            </a:r>
          </a:p>
          <a:p>
            <a:pPr marL="0" indent="0">
              <a:buNone/>
            </a:pPr>
            <a:r>
              <a:rPr lang="en-IN" b="1" dirty="0" smtClean="0"/>
              <a:t>	✔ Urgent language.</a:t>
            </a:r>
          </a:p>
          <a:p>
            <a:pPr marL="0" indent="0">
              <a:buNone/>
            </a:pPr>
            <a:r>
              <a:rPr lang="en-IN" b="1" dirty="0" smtClean="0"/>
              <a:t>	✔ Suspicious links.</a:t>
            </a:r>
          </a:p>
          <a:p>
            <a:pPr marL="0" indent="0">
              <a:buNone/>
            </a:pPr>
            <a:r>
              <a:rPr lang="en-IN" b="1" dirty="0" smtClean="0"/>
              <a:t>	✔ Grammar mistakes.</a:t>
            </a:r>
          </a:p>
          <a:p>
            <a:pPr marL="0" indent="0">
              <a:buNone/>
            </a:pPr>
            <a:r>
              <a:rPr lang="en-IN" b="1" dirty="0" smtClean="0"/>
              <a:t>	✔ Requests for passwords.</a:t>
            </a:r>
          </a:p>
          <a:p>
            <a:pPr marL="0" indent="0">
              <a:buNone/>
            </a:pPr>
            <a:r>
              <a:rPr lang="en-IN" b="1" dirty="0" smtClean="0"/>
              <a:t>	✔ Unknown attachments.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74066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Protection</a:t>
            </a:r>
            <a:r>
              <a:rPr lang="en-IN" dirty="0" smtClean="0"/>
              <a:t> </a:t>
            </a:r>
            <a:r>
              <a:rPr lang="en-IN" b="1" u="sng" dirty="0" smtClean="0"/>
              <a:t>Tips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• Verify sender addresses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• Use strong passwords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• Enable Multi-Factor Authentication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• Avoid suspicious links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• Keep software updated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• Report suspicious emails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7145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Real</a:t>
            </a:r>
            <a:r>
              <a:rPr lang="en-IN" dirty="0" smtClean="0"/>
              <a:t> </a:t>
            </a:r>
            <a:r>
              <a:rPr lang="en-IN" b="1" u="sng" dirty="0" smtClean="0"/>
              <a:t>World</a:t>
            </a:r>
            <a:r>
              <a:rPr lang="en-IN" dirty="0" smtClean="0"/>
              <a:t> </a:t>
            </a:r>
            <a:r>
              <a:rPr lang="en-IN" b="1" u="sng" dirty="0" smtClean="0"/>
              <a:t>Example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1778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Google and Facebook BEC Scam (Business Email Compromise)</a:t>
            </a:r>
          </a:p>
          <a:p>
            <a:r>
              <a:rPr lang="en-US" b="1" dirty="0" smtClean="0"/>
              <a:t>Brief Explanation:</a:t>
            </a:r>
            <a:endParaRPr lang="en-US" dirty="0" smtClean="0"/>
          </a:p>
          <a:p>
            <a:r>
              <a:rPr lang="en-US" dirty="0" smtClean="0"/>
              <a:t>Fraudsters impersonated a legitimate vendor by sending fake business emails. </a:t>
            </a:r>
          </a:p>
          <a:p>
            <a:r>
              <a:rPr lang="en-US" dirty="0" smtClean="0"/>
              <a:t>Employees believed the emails were genuine and transferred millions of dollars to the scammers' bank accounts. </a:t>
            </a:r>
          </a:p>
          <a:p>
            <a:r>
              <a:rPr lang="en-US" dirty="0" smtClean="0"/>
              <a:t>The scam caused losses of over </a:t>
            </a:r>
            <a:r>
              <a:rPr lang="en-US" b="1" dirty="0" smtClean="0"/>
              <a:t>$100 million</a:t>
            </a:r>
            <a:r>
              <a:rPr lang="en-US" dirty="0" smtClean="0"/>
              <a:t> before it was discovered. </a:t>
            </a:r>
          </a:p>
          <a:p>
            <a:r>
              <a:rPr lang="en-US" dirty="0" smtClean="0"/>
              <a:t>This case demonstrates how phishing and email fraud can successfully target even large organizations like </a:t>
            </a:r>
            <a:r>
              <a:rPr lang="en-US" b="1" dirty="0" smtClean="0"/>
              <a:t>Google</a:t>
            </a:r>
            <a:r>
              <a:rPr lang="en-US" dirty="0" smtClean="0"/>
              <a:t> and </a:t>
            </a:r>
            <a:r>
              <a:rPr lang="en-US" b="1" dirty="0" smtClean="0"/>
              <a:t>Facebook</a:t>
            </a:r>
            <a:r>
              <a:rPr lang="en-US" dirty="0" smtClean="0"/>
              <a:t>. </a:t>
            </a:r>
          </a:p>
          <a:p>
            <a:r>
              <a:rPr lang="en-US" b="1" dirty="0" smtClean="0"/>
              <a:t>Key Lesson: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Always verify payment requests and sender identities before transferring money, even if the email appears to come from a trusted source.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55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Quiz</a:t>
            </a:r>
            <a:r>
              <a:rPr lang="en-IN" dirty="0" smtClean="0"/>
              <a:t>:-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8407"/>
            <a:ext cx="10515600" cy="5134062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 smtClean="0"/>
              <a:t>Question 1</a:t>
            </a:r>
          </a:p>
          <a:p>
            <a:pPr marL="0" indent="0">
              <a:buNone/>
            </a:pPr>
            <a:r>
              <a:rPr lang="en-US" sz="2000" b="1" dirty="0" smtClean="0"/>
              <a:t>What is phishing</a:t>
            </a:r>
            <a:r>
              <a:rPr lang="en-US" sz="2000" dirty="0" smtClean="0"/>
              <a:t>?</a:t>
            </a:r>
          </a:p>
          <a:p>
            <a:pPr marL="0" indent="0">
              <a:buNone/>
            </a:pPr>
            <a:r>
              <a:rPr lang="en-US" sz="2000" dirty="0" smtClean="0"/>
              <a:t>Antivirus</a:t>
            </a:r>
            <a:br>
              <a:rPr lang="en-US" sz="2000" dirty="0" smtClean="0"/>
            </a:br>
            <a:r>
              <a:rPr lang="en-US" sz="2000" dirty="0" smtClean="0"/>
              <a:t>B) Fraud attempt to steal information ✅</a:t>
            </a:r>
            <a:br>
              <a:rPr lang="en-US" sz="2000" dirty="0" smtClean="0"/>
            </a:br>
            <a:r>
              <a:rPr lang="en-US" sz="2000" dirty="0" smtClean="0"/>
              <a:t>C) Firewall</a:t>
            </a:r>
            <a:br>
              <a:rPr lang="en-US" sz="2000" dirty="0" smtClean="0"/>
            </a:br>
            <a:r>
              <a:rPr lang="en-US" sz="2000" dirty="0" smtClean="0"/>
              <a:t>D) Encryption</a:t>
            </a:r>
          </a:p>
          <a:p>
            <a:r>
              <a:rPr lang="en-US" sz="2000" b="1" dirty="0" smtClean="0"/>
              <a:t>Question 2</a:t>
            </a: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Which is a warning sign</a:t>
            </a:r>
            <a:r>
              <a:rPr lang="en-US" sz="2000" dirty="0" smtClean="0"/>
              <a:t>?</a:t>
            </a:r>
          </a:p>
          <a:p>
            <a:pPr marL="0" indent="0">
              <a:buNone/>
            </a:pPr>
            <a:r>
              <a:rPr lang="en-US" sz="2000" dirty="0" smtClean="0"/>
              <a:t>HTTPS only</a:t>
            </a:r>
            <a:br>
              <a:rPr lang="en-US" sz="2000" dirty="0" smtClean="0"/>
            </a:br>
            <a:r>
              <a:rPr lang="en-US" sz="2000" dirty="0" smtClean="0"/>
              <a:t>B) Strong password</a:t>
            </a:r>
            <a:br>
              <a:rPr lang="en-US" sz="2000" dirty="0" smtClean="0"/>
            </a:br>
            <a:r>
              <a:rPr lang="en-US" sz="2000" dirty="0" smtClean="0"/>
              <a:t>C) Urgent request for credentials ✅</a:t>
            </a:r>
            <a:br>
              <a:rPr lang="en-US" sz="2000" dirty="0" smtClean="0"/>
            </a:br>
            <a:r>
              <a:rPr lang="en-US" sz="2000" dirty="0" smtClean="0"/>
              <a:t>D) MFA</a:t>
            </a:r>
          </a:p>
          <a:p>
            <a:r>
              <a:rPr lang="en-US" sz="2000" b="1" dirty="0" smtClean="0"/>
              <a:t>Question 3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b="1" dirty="0" smtClean="0"/>
              <a:t>What should you do before clicking links</a:t>
            </a:r>
            <a:r>
              <a:rPr lang="en-US" sz="2000" dirty="0" smtClean="0"/>
              <a:t>?</a:t>
            </a:r>
          </a:p>
          <a:p>
            <a:pPr marL="0" indent="0">
              <a:buNone/>
            </a:pPr>
            <a:r>
              <a:rPr lang="en-US" sz="2000" dirty="0" smtClean="0"/>
              <a:t>A) Click immediately</a:t>
            </a:r>
            <a:br>
              <a:rPr lang="en-US" sz="2000" dirty="0" smtClean="0"/>
            </a:br>
            <a:r>
              <a:rPr lang="en-US" sz="2000" dirty="0" smtClean="0"/>
              <a:t>B) Verify sender and URL ✅</a:t>
            </a:r>
            <a:br>
              <a:rPr lang="en-US" sz="2000" dirty="0" smtClean="0"/>
            </a:br>
            <a:r>
              <a:rPr lang="en-US" sz="2000" dirty="0" smtClean="0"/>
              <a:t>C) Disable antivirus</a:t>
            </a:r>
            <a:br>
              <a:rPr lang="en-US" sz="2000" dirty="0" smtClean="0"/>
            </a:br>
            <a:r>
              <a:rPr lang="en-US" sz="2000" dirty="0" smtClean="0"/>
              <a:t>D) Share password</a:t>
            </a:r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AutoNum type="alphaUcParenR"/>
            </a:pPr>
            <a:endParaRPr lang="en-US" sz="2000" dirty="0" smtClean="0"/>
          </a:p>
          <a:p>
            <a:pPr marL="457200" indent="-457200">
              <a:buAutoNum type="alphaUcParenR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0181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56345"/>
            <a:ext cx="10515600" cy="5220618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/>
              <a:t>Thank You.</a:t>
            </a:r>
          </a:p>
          <a:p>
            <a:pPr algn="ctr"/>
            <a:r>
              <a:rPr lang="en-US" sz="6600" dirty="0" smtClean="0"/>
              <a:t>Stay Alert.</a:t>
            </a:r>
          </a:p>
          <a:p>
            <a:pPr algn="ctr"/>
            <a:r>
              <a:rPr lang="en-US" sz="6600" dirty="0" smtClean="0"/>
              <a:t>Stay Secure.</a:t>
            </a:r>
            <a:endParaRPr lang="en-IN" sz="6600" dirty="0"/>
          </a:p>
        </p:txBody>
      </p:sp>
      <p:pic>
        <p:nvPicPr>
          <p:cNvPr id="5122" name="Picture 2" descr="https://png.pngtree.com/png-clipart/20241222/original/pngtree-security-system-lock-icon-png-image_1812826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133"/>
            <a:ext cx="3570514" cy="3570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png.pngtree.com/png-clipart/20250528/original/pngtree-blue-security-shield-icon-png-image_2108462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794" y="110635"/>
            <a:ext cx="3649509" cy="364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s://wallpapercave.com/wp/wp2691496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64001"/>
            <a:ext cx="12192000" cy="259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782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624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Phishing Awareness Training</vt:lpstr>
      <vt:lpstr>What is Phishing?</vt:lpstr>
      <vt:lpstr>How Phishing Works:-</vt:lpstr>
      <vt:lpstr>Types of Phishing</vt:lpstr>
      <vt:lpstr>Example of A Phishing Email:-</vt:lpstr>
      <vt:lpstr>Fake Websites</vt:lpstr>
      <vt:lpstr>Social Engineering</vt:lpstr>
      <vt:lpstr>Warning Signs</vt:lpstr>
      <vt:lpstr>Protection Tips</vt:lpstr>
      <vt:lpstr>Real World Example</vt:lpstr>
      <vt:lpstr>Quiz:-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SOHAM HALDANKAR</dc:creator>
  <cp:lastModifiedBy>SOHAM HALDANKAR</cp:lastModifiedBy>
  <cp:revision>8</cp:revision>
  <dcterms:created xsi:type="dcterms:W3CDTF">2026-06-12T10:37:23Z</dcterms:created>
  <dcterms:modified xsi:type="dcterms:W3CDTF">2026-06-12T11:42:57Z</dcterms:modified>
</cp:coreProperties>
</file>